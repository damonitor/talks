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1"/>
  </p:notesMasterIdLst>
  <p:handoutMasterIdLst>
    <p:handoutMasterId r:id="rId12"/>
  </p:handoutMasterIdLst>
  <p:sldIdLst>
    <p:sldId id="287" r:id="rId5"/>
    <p:sldId id="297" r:id="rId6"/>
    <p:sldId id="290" r:id="rId7"/>
    <p:sldId id="295" r:id="rId8"/>
    <p:sldId id="298" r:id="rId9"/>
    <p:sldId id="296" r:id="rId10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page_Image version" id="{E8D0D622-F6C6-F44A-B365-B4A5FF6195C2}">
          <p14:sldIdLst>
            <p14:sldId id="287"/>
          </p14:sldIdLst>
        </p14:section>
        <p14:section name="Contents page" id="{9D221634-295C-7843-AF5C-A0CB4F229241}">
          <p14:sldIdLst/>
        </p14:section>
        <p14:section name="Chapter page" id="{FD05EE94-C931-8C4B-83A2-004B32AA1207}">
          <p14:sldIdLst>
            <p14:sldId id="297"/>
            <p14:sldId id="290"/>
            <p14:sldId id="295"/>
            <p14:sldId id="298"/>
            <p14:sldId id="296"/>
          </p14:sldIdLst>
        </p14:section>
        <p14:section name="End page" id="{3F9D54A7-3BE2-2540-BB4C-DFE5509085F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E9002F"/>
    <a:srgbClr val="C7000B"/>
    <a:srgbClr val="575756"/>
    <a:srgbClr val="4B4C4B"/>
    <a:srgbClr val="353530"/>
    <a:srgbClr val="4D4D4C"/>
    <a:srgbClr val="DD4654"/>
    <a:srgbClr val="FFFFFF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467"/>
  </p:normalViewPr>
  <p:slideViewPr>
    <p:cSldViewPr snapToGrid="0" snapToObjects="1">
      <p:cViewPr>
        <p:scale>
          <a:sx n="100" d="100"/>
          <a:sy n="100" d="100"/>
        </p:scale>
        <p:origin x="72" y="33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851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pl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/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C6FADA1-64AC-754D-8189-CC7486A73A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D08BA7CF-6D0E-3345-90BD-85C5AFAE5BE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194953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llig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/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352597" y="2376386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181685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0C28CF6-72CE-7444-957F-92103ED4054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BEE1CA6-ECDC-5D4C-AF96-D8818FE883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448738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nov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/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4913952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894DB30-FB81-8C43-84D2-D602CEBBFC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5547E01-69EF-354E-A3D7-2F57B5B164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4940993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c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/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0221E27-F39A-5848-9F2D-07F8693DFAE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36005" y="1940429"/>
            <a:ext cx="6522800" cy="1148459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25CFD13-9C9C-6F4D-9AC2-E2D74CD60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12855" y="6237532"/>
            <a:ext cx="1483104" cy="279014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BE97340-3746-2843-A081-908ECE911D8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4275" y="900634"/>
            <a:ext cx="6586025" cy="81386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37370765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pt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B59AE43-8096-BF49-A3DF-423FBC054CA7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baseline="0">
                <a:solidFill>
                  <a:schemeClr val="tx1"/>
                </a:solidFill>
                <a:latin typeface="+mn-lt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446501" marR="0" indent="-285750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baseline="0">
                <a:latin typeface="+mn-lt"/>
                <a:ea typeface="Microsoft YaHei" panose="020B0503020204020204" pitchFamily="34" charset="-122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baseline="0">
                <a:latin typeface="+mn-lt"/>
                <a:ea typeface="Microsoft YaHei" panose="020B0503020204020204" pitchFamily="34" charset="-122"/>
              </a:defRPr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en-US" dirty="0"/>
              <a:t>Click to edit Master text style</a:t>
            </a:r>
          </a:p>
          <a:p>
            <a:pPr marL="329026" marR="0" lvl="1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r>
              <a:rPr lang="en-US" dirty="0"/>
              <a:t>Click to edit Master text style</a:t>
            </a:r>
          </a:p>
          <a:p>
            <a:pPr marL="1098575" marR="0" lvl="2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/>
            </a:pPr>
            <a:endParaRPr lang="en-US" altLang="zh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599EA8-6349-3349-B5F3-BFB77398A86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tif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if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if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4738613-2341-9046-8E35-A1048C744AF2}"/>
              </a:ext>
            </a:extLst>
          </p:cNvPr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4948CB-D146-5247-A1C4-675148CE077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7076" y="5972665"/>
            <a:ext cx="2260800" cy="48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4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886C4A9-2C5E-EC44-8D62-420DF3BE0B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7852" y="6325091"/>
            <a:ext cx="1270800" cy="275024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E2171E79-11D3-8648-9BEA-3C7660378BC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90469" y="2625389"/>
            <a:ext cx="1963324" cy="4233515"/>
            <a:chOff x="5343883" y="-48857"/>
            <a:chExt cx="3263588" cy="7037279"/>
          </a:xfrm>
        </p:grpSpPr>
        <p:sp>
          <p:nvSpPr>
            <p:cNvPr id="69" name="矩形 13">
              <a:extLst>
                <a:ext uri="{FF2B5EF4-FFF2-40B4-BE49-F238E27FC236}">
                  <a16:creationId xmlns:a16="http://schemas.microsoft.com/office/drawing/2014/main" id="{2056A118-9F13-2644-8C4D-19B83F915923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70" name="文本框 15">
              <a:extLst>
                <a:ext uri="{FF2B5EF4-FFF2-40B4-BE49-F238E27FC236}">
                  <a16:creationId xmlns:a16="http://schemas.microsoft.com/office/drawing/2014/main" id="{B22FD20B-FED1-F14A-B606-EFB600078EA5}"/>
                </a:ext>
              </a:extLst>
            </p:cNvPr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>
              <a:extLst>
                <a:ext uri="{FF2B5EF4-FFF2-40B4-BE49-F238E27FC236}">
                  <a16:creationId xmlns:a16="http://schemas.microsoft.com/office/drawing/2014/main" id="{1BDF5E4A-1867-8E41-834A-BEF7F7DBCA4B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72" name="矩形 13">
              <a:extLst>
                <a:ext uri="{FF2B5EF4-FFF2-40B4-BE49-F238E27FC236}">
                  <a16:creationId xmlns:a16="http://schemas.microsoft.com/office/drawing/2014/main" id="{C1206869-819B-184C-810B-151F92C62236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73" name="矩形 13">
              <a:extLst>
                <a:ext uri="{FF2B5EF4-FFF2-40B4-BE49-F238E27FC236}">
                  <a16:creationId xmlns:a16="http://schemas.microsoft.com/office/drawing/2014/main" id="{7532BB58-5C8F-B442-A115-B92066928429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74" name="矩形 13">
              <a:extLst>
                <a:ext uri="{FF2B5EF4-FFF2-40B4-BE49-F238E27FC236}">
                  <a16:creationId xmlns:a16="http://schemas.microsoft.com/office/drawing/2014/main" id="{19E144E8-C437-8E49-8068-D750BCB2B2F7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75" name="矩形 13">
              <a:extLst>
                <a:ext uri="{FF2B5EF4-FFF2-40B4-BE49-F238E27FC236}">
                  <a16:creationId xmlns:a16="http://schemas.microsoft.com/office/drawing/2014/main" id="{F707D190-CC54-CA46-946B-8609C53E3CB9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6" name="矩形 13">
              <a:extLst>
                <a:ext uri="{FF2B5EF4-FFF2-40B4-BE49-F238E27FC236}">
                  <a16:creationId xmlns:a16="http://schemas.microsoft.com/office/drawing/2014/main" id="{CA69D07A-4CB1-1C44-95EB-D5DD16C88C16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77" name="文本框 15">
              <a:extLst>
                <a:ext uri="{FF2B5EF4-FFF2-40B4-BE49-F238E27FC236}">
                  <a16:creationId xmlns:a16="http://schemas.microsoft.com/office/drawing/2014/main" id="{14051C33-7D8E-ED4E-A31B-8FAA52C8EDA5}"/>
                </a:ext>
              </a:extLst>
            </p:cNvPr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>
              <a:extLst>
                <a:ext uri="{FF2B5EF4-FFF2-40B4-BE49-F238E27FC236}">
                  <a16:creationId xmlns:a16="http://schemas.microsoft.com/office/drawing/2014/main" id="{697139C8-6378-7346-AA26-3DE355486404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79" name="矩形 13">
              <a:extLst>
                <a:ext uri="{FF2B5EF4-FFF2-40B4-BE49-F238E27FC236}">
                  <a16:creationId xmlns:a16="http://schemas.microsoft.com/office/drawing/2014/main" id="{F79CD551-CACB-A749-9460-B80C1456F4E8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80" name="矩形 13">
              <a:extLst>
                <a:ext uri="{FF2B5EF4-FFF2-40B4-BE49-F238E27FC236}">
                  <a16:creationId xmlns:a16="http://schemas.microsoft.com/office/drawing/2014/main" id="{659202D4-1C13-564B-AD21-AF809769236B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81" name="矩形 13">
              <a:extLst>
                <a:ext uri="{FF2B5EF4-FFF2-40B4-BE49-F238E27FC236}">
                  <a16:creationId xmlns:a16="http://schemas.microsoft.com/office/drawing/2014/main" id="{1D14C75E-3EEE-FA4D-8DA3-70B2C56F286F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82" name="矩形 13">
              <a:extLst>
                <a:ext uri="{FF2B5EF4-FFF2-40B4-BE49-F238E27FC236}">
                  <a16:creationId xmlns:a16="http://schemas.microsoft.com/office/drawing/2014/main" id="{9844BDEE-1453-9A40-B91C-2C526D59737B}"/>
                </a:ext>
              </a:extLst>
            </p:cNvPr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83" name="矩形 13">
              <a:extLst>
                <a:ext uri="{FF2B5EF4-FFF2-40B4-BE49-F238E27FC236}">
                  <a16:creationId xmlns:a16="http://schemas.microsoft.com/office/drawing/2014/main" id="{533D13E9-5244-8E4F-9513-C00748CDDDF9}"/>
                </a:ext>
              </a:extLst>
            </p:cNvPr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84" name="矩形 13">
              <a:extLst>
                <a:ext uri="{FF2B5EF4-FFF2-40B4-BE49-F238E27FC236}">
                  <a16:creationId xmlns:a16="http://schemas.microsoft.com/office/drawing/2014/main" id="{4EBE9DBF-E87C-4F4D-BBB1-81632C549613}"/>
                </a:ext>
              </a:extLst>
            </p:cNvPr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85" name="矩形 13">
              <a:extLst>
                <a:ext uri="{FF2B5EF4-FFF2-40B4-BE49-F238E27FC236}">
                  <a16:creationId xmlns:a16="http://schemas.microsoft.com/office/drawing/2014/main" id="{422FC2B2-7928-F442-949E-D722F3DC9D01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86" name="矩形 13">
              <a:extLst>
                <a:ext uri="{FF2B5EF4-FFF2-40B4-BE49-F238E27FC236}">
                  <a16:creationId xmlns:a16="http://schemas.microsoft.com/office/drawing/2014/main" id="{5F38502B-99C0-4640-9E8D-7247A3238E22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87" name="矩形 13">
              <a:extLst>
                <a:ext uri="{FF2B5EF4-FFF2-40B4-BE49-F238E27FC236}">
                  <a16:creationId xmlns:a16="http://schemas.microsoft.com/office/drawing/2014/main" id="{1399EB62-5216-324F-B66C-AD6ED0004D51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88" name="矩形 13">
              <a:extLst>
                <a:ext uri="{FF2B5EF4-FFF2-40B4-BE49-F238E27FC236}">
                  <a16:creationId xmlns:a16="http://schemas.microsoft.com/office/drawing/2014/main" id="{DEDE780A-8050-FD48-B661-39532349131D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89" name="矩形 13">
              <a:extLst>
                <a:ext uri="{FF2B5EF4-FFF2-40B4-BE49-F238E27FC236}">
                  <a16:creationId xmlns:a16="http://schemas.microsoft.com/office/drawing/2014/main" id="{9BDB304C-5E40-9647-A3EF-75D9BFFB7E5B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0" name="矩形 13">
              <a:extLst>
                <a:ext uri="{FF2B5EF4-FFF2-40B4-BE49-F238E27FC236}">
                  <a16:creationId xmlns:a16="http://schemas.microsoft.com/office/drawing/2014/main" id="{EC3A6DD7-CCD1-0C4F-B8D4-3D01C9FFC289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id="{FC3F3193-22C2-A847-A957-DFCCDA9D1D88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id="{851DFAF5-0D1C-C64A-87B5-B0C9497BA3EB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id="{57EB9D15-6C1C-8340-A5D0-43B865B5951C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id="{2B29D96D-3B3D-B944-92CB-FE0973E33810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id="{35D234AC-C1A2-7248-94C0-BB95C4DFE743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id="{2C241EB7-09A9-7E40-9241-F2D47E53E1FF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78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97" name="矩形 13">
              <a:extLst>
                <a:ext uri="{FF2B5EF4-FFF2-40B4-BE49-F238E27FC236}">
                  <a16:creationId xmlns:a16="http://schemas.microsoft.com/office/drawing/2014/main" id="{63833C81-CC87-004C-AE5E-CB387B992636}"/>
                </a:ext>
              </a:extLst>
            </p:cNvPr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id="{77A96C4C-F3F3-484A-95BE-7E52C33A2FE2}"/>
                </a:ext>
              </a:extLst>
            </p:cNvPr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id="{66F0E6F8-F4D3-1B44-BB6D-F328A6CEA0C9}"/>
                </a:ext>
              </a:extLst>
            </p:cNvPr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id="{EEFEFB0D-48AF-8147-BDEB-B01E99ED82A7}"/>
                </a:ext>
              </a:extLst>
            </p:cNvPr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id="{3F7C47B0-D4EF-7047-9B96-1169C593055C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id="{26A0A468-A37D-824A-8DA2-0B437212E07E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id="{B0E79B3A-2E5F-ED4F-AA3D-00B685B18CA9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id="{32D85E93-C860-B646-A67C-3D2FDCC07E8E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id="{D9E271D3-C782-EA4B-B477-613B5CE7B0DA}"/>
                </a:ext>
              </a:extLst>
            </p:cNvPr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id="{3F3501FC-1CA1-714F-BF48-934C859FA443}"/>
                </a:ext>
              </a:extLst>
            </p:cNvPr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id="{55D4E001-16C8-3749-9816-95BDA789806E}"/>
                </a:ext>
              </a:extLst>
            </p:cNvPr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id="{77AD797E-A6D4-8148-B9A9-59A0D242F0FA}"/>
                </a:ext>
              </a:extLst>
            </p:cNvPr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ACD1975-F435-0C43-9931-DC58CEAFFC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350" y="5239240"/>
            <a:ext cx="1875600" cy="40591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144" y="1474840"/>
            <a:ext cx="3984232" cy="28160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A24FF637-3127-064E-84EE-A0C7EB5BEE96}"/>
              </a:ext>
            </a:extLst>
          </p:cNvPr>
          <p:cNvSpPr txBox="1">
            <a:spLocks/>
          </p:cNvSpPr>
          <p:nvPr userDrawn="1"/>
        </p:nvSpPr>
        <p:spPr>
          <a:xfrm>
            <a:off x="7979357" y="2343267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9" name="Subtitle 6">
            <a:extLst>
              <a:ext uri="{FF2B5EF4-FFF2-40B4-BE49-F238E27FC236}">
                <a16:creationId xmlns:a16="http://schemas.microsoft.com/office/drawing/2014/main" id="{FBF16AD5-9EBA-8547-984B-E4E106BBD6C0}"/>
              </a:ext>
            </a:extLst>
          </p:cNvPr>
          <p:cNvSpPr txBox="1">
            <a:spLocks/>
          </p:cNvSpPr>
          <p:nvPr userDrawn="1"/>
        </p:nvSpPr>
        <p:spPr>
          <a:xfrm>
            <a:off x="7977672" y="1654431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E9716F5-BA15-8E49-87BC-A78702BC98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/>
              <a:t>Asier Gutierrez</a:t>
            </a:r>
            <a:endParaRPr kumimoji="1" lang="zh-CN" altLang="en-US" dirty="0"/>
          </a:p>
        </p:txBody>
      </p:sp>
      <p:sp>
        <p:nvSpPr>
          <p:cNvPr id="8" name="副标题 7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i="1"/>
              <a:t>Guiding THP Decisions with DAMON Memory Monitoring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904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53A0C7-E727-E943-B886-A847BF608D8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26021" y="1512875"/>
            <a:ext cx="10733557" cy="4690459"/>
          </a:xfrm>
        </p:spPr>
        <p:txBody>
          <a:bodyPr/>
          <a:lstStyle/>
          <a:p>
            <a:r>
              <a:rPr lang="en-US"/>
              <a:t>Problems</a:t>
            </a:r>
          </a:p>
          <a:p>
            <a:pPr lvl="1"/>
            <a:r>
              <a:rPr lang="en-US"/>
              <a:t>THP is global and affects the entire system</a:t>
            </a:r>
          </a:p>
          <a:p>
            <a:pPr lvl="1"/>
            <a:r>
              <a:rPr lang="en-US"/>
              <a:t>Huge pages can lead to fragmentation, memory waste and OOM</a:t>
            </a:r>
          </a:p>
          <a:p>
            <a:endParaRPr lang="en-US"/>
          </a:p>
          <a:p>
            <a:r>
              <a:rPr lang="en-US"/>
              <a:t>Goals</a:t>
            </a:r>
          </a:p>
          <a:p>
            <a:pPr lvl="1"/>
            <a:r>
              <a:rPr lang="en-US"/>
              <a:t>THP automated management</a:t>
            </a:r>
          </a:p>
          <a:p>
            <a:pPr lvl="1"/>
            <a:r>
              <a:rPr lang="en-US"/>
              <a:t>Custom THP policies per task instead of global THP policy</a:t>
            </a:r>
          </a:p>
          <a:p>
            <a:pPr lvl="1"/>
            <a:r>
              <a:rPr lang="en-US"/>
              <a:t>Bypass khugepaged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D1B7A-1BF1-9243-B4C2-FD446E0C2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Motivations and goals</a:t>
            </a:r>
          </a:p>
        </p:txBody>
      </p:sp>
    </p:spTree>
    <p:extLst>
      <p:ext uri="{BB962C8B-B14F-4D97-AF65-F5344CB8AC3E}">
        <p14:creationId xmlns:p14="http://schemas.microsoft.com/office/powerpoint/2010/main" val="4006654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53A0C7-E727-E943-B886-A847BF608D8A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s-ES"/>
              <a:t>Action “collapse” was introduce, supporting collapsing pages into huge pages</a:t>
            </a:r>
          </a:p>
          <a:p>
            <a:r>
              <a:rPr lang="es-ES"/>
              <a:t>Collapse may work for specific memory regions triggered by DAMON, as opposed to the entire VMA</a:t>
            </a:r>
          </a:p>
          <a:p>
            <a:r>
              <a:rPr lang="es-ES"/>
              <a:t>It works with THP set to never. It doesn’t</a:t>
            </a:r>
            <a:r>
              <a:rPr lang="en-US"/>
              <a:t> require khugepaged to be running</a:t>
            </a:r>
          </a:p>
          <a:p>
            <a:r>
              <a:rPr lang="es-ES"/>
              <a:t>I</a:t>
            </a:r>
            <a:r>
              <a:rPr lang="en-US"/>
              <a:t>t complements the current hugepage action, which internally uses madvise</a:t>
            </a:r>
          </a:p>
          <a:p>
            <a:endParaRPr lang="es-ES"/>
          </a:p>
          <a:p>
            <a:endParaRPr lang="es-ES"/>
          </a:p>
          <a:p>
            <a:endParaRPr lang="es-ES"/>
          </a:p>
          <a:p>
            <a:endParaRPr lang="en-US"/>
          </a:p>
          <a:p>
            <a:endParaRPr lang="es-ES"/>
          </a:p>
          <a:p>
            <a:endParaRPr lang="en-US"/>
          </a:p>
          <a:p>
            <a:endParaRPr lang="en-US"/>
          </a:p>
          <a:p>
            <a:pPr marL="11113" indent="0">
              <a:buNone/>
            </a:pP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D1B7A-1BF1-9243-B4C2-FD446E0C2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MADV_COLLAPSE in DAMON</a:t>
            </a:r>
          </a:p>
        </p:txBody>
      </p:sp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C34EDA6C-5370-4EEA-AFE6-A3E064E16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40" y="3429000"/>
            <a:ext cx="10734675" cy="196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20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53A0C7-E727-E943-B886-A847BF608D8A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/>
              <a:t>hugepage_mem_bp target metric for quota tuning introduced</a:t>
            </a:r>
            <a:endParaRPr lang="en-US" dirty="0"/>
          </a:p>
          <a:p>
            <a:r>
              <a:rPr lang="es-ES"/>
              <a:t>Huge page to total memory used ratio in basis points (1/</a:t>
            </a:r>
            <a:r>
              <a:rPr lang="en-US"/>
              <a:t>10,000)</a:t>
            </a:r>
          </a:p>
          <a:p>
            <a:r>
              <a:rPr lang="en-US"/>
              <a:t>It uses anonymous + shared memory + file mapped sizes</a:t>
            </a:r>
            <a:endParaRPr lang="ru-RU"/>
          </a:p>
          <a:p>
            <a:pPr marL="11113" indent="0">
              <a:buNone/>
            </a:pPr>
            <a:endParaRPr lang="en-US"/>
          </a:p>
          <a:p>
            <a:pPr marL="11113" indent="0">
              <a:buNone/>
            </a:pPr>
            <a:r>
              <a:rPr lang="es-ES" sz="2000" b="1"/>
              <a:t>Testing</a:t>
            </a:r>
          </a:p>
          <a:p>
            <a:r>
              <a:rPr lang="en-US"/>
              <a:t>Same setting as before</a:t>
            </a:r>
          </a:p>
          <a:p>
            <a:pPr marL="11113" indent="0">
              <a:buNone/>
            </a:pPr>
            <a:endParaRPr lang="en-US" sz="10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113" indent="0">
              <a:buNone/>
            </a:pP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sudo ./damo start </a:t>
            </a:r>
            <a: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$(pidof mariadbd) </a:t>
            </a: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--monitoring_nr_regions_range 10 1000 --monitoring_intervals 5000 100000 60000000 \</a:t>
            </a:r>
          </a:p>
          <a:p>
            <a:pPr marL="11113" indent="0">
              <a:buNone/>
            </a:pP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--damos_quota_time 0 --damos_quota_space 128000000 --damos_quota_interval 1000 --damos_quota_weights 0 1 1 \</a:t>
            </a:r>
          </a:p>
          <a:p>
            <a:pPr marL="11113" indent="0">
              <a:buNone/>
            </a:pPr>
            <a: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--damos_quota_goal hugepage_mem_bp 1000 --damos_quota_goal_tuner temporal </a:t>
            </a: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--damos_apply_interval 100000  \</a:t>
            </a:r>
          </a:p>
          <a:p>
            <a:pPr marL="11113" indent="0">
              <a:buNone/>
            </a:pP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--damos_access_rate 0 max --damos_age 50 max </a:t>
            </a:r>
            <a:r>
              <a:rPr lang="en-US" sz="1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--damos_action collapse </a:t>
            </a:r>
            <a:r>
              <a:rPr lang="en-US" sz="1000">
                <a:latin typeface="Courier New" panose="02070309020205020404" pitchFamily="49" charset="0"/>
                <a:cs typeface="Courier New" panose="02070309020205020404" pitchFamily="49" charset="0"/>
              </a:rPr>
              <a:t>--debug_damon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D1B7A-1BF1-9243-B4C2-FD446E0C2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Autotuning huge pages</a:t>
            </a:r>
          </a:p>
        </p:txBody>
      </p:sp>
    </p:spTree>
    <p:extLst>
      <p:ext uri="{BB962C8B-B14F-4D97-AF65-F5344CB8AC3E}">
        <p14:creationId xmlns:p14="http://schemas.microsoft.com/office/powerpoint/2010/main" val="3474272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53A0C7-E727-E943-B886-A847BF608D8A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11113" indent="0">
              <a:buNone/>
            </a:pPr>
            <a:r>
              <a:rPr lang="en-US" i="1"/>
              <a:t>Temporal autotuning</a:t>
            </a:r>
          </a:p>
          <a:p>
            <a:endParaRPr lang="en-US"/>
          </a:p>
          <a:p>
            <a:endParaRPr lang="ru-RU"/>
          </a:p>
          <a:p>
            <a:endParaRPr lang="ru-RU"/>
          </a:p>
          <a:p>
            <a:endParaRPr lang="ru-RU"/>
          </a:p>
          <a:p>
            <a:endParaRPr lang="ru-RU"/>
          </a:p>
          <a:p>
            <a:endParaRPr lang="en-US"/>
          </a:p>
          <a:p>
            <a:pPr marL="11113" indent="0">
              <a:buNone/>
            </a:pPr>
            <a:r>
              <a:rPr lang="en-US" i="1"/>
              <a:t>Consistent autotuning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D1B7A-1BF1-9243-B4C2-FD446E0C2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/>
              <a:t>Results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188DC1-3768-49C7-8360-DA397BBAC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12" y="2017597"/>
            <a:ext cx="10504166" cy="19352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AF25D-28C7-4ED4-A7A7-1862A9604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412" y="4347480"/>
            <a:ext cx="10504166" cy="191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97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53A0C7-E727-E943-B886-A847BF608D8A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US"/>
              <a:t>mTHP support for hugepage_mem_bp</a:t>
            </a:r>
          </a:p>
          <a:p>
            <a:r>
              <a:rPr lang="en-US"/>
              <a:t>Split support for full THP management using DAMON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0D1B7A-1BF1-9243-B4C2-FD446E0C2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Future directions</a:t>
            </a:r>
          </a:p>
        </p:txBody>
      </p:sp>
    </p:spTree>
    <p:extLst>
      <p:ext uri="{BB962C8B-B14F-4D97-AF65-F5344CB8AC3E}">
        <p14:creationId xmlns:p14="http://schemas.microsoft.com/office/powerpoint/2010/main" val="2023255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over page_Image version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32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2CAB3CEB-A314-40CA-9193-70DA3C6C90B9}"/>
    </a:ext>
  </a:extLst>
</a:theme>
</file>

<file path=ppt/theme/theme2.xml><?xml version="1.0" encoding="utf-8"?>
<a:theme xmlns:a="http://schemas.openxmlformats.org/drawingml/2006/main" name="Contents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sz="2200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BD6C002A-145D-48C4-BC37-8F185842FDD8}"/>
    </a:ext>
  </a:extLst>
</a:theme>
</file>

<file path=ppt/theme/theme3.xml><?xml version="1.0" encoding="utf-8"?>
<a:theme xmlns:a="http://schemas.openxmlformats.org/drawingml/2006/main" name="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9EF9C519-0329-4EF9-B266-404C2A0B68C0}"/>
    </a:ext>
  </a:extLst>
</a:theme>
</file>

<file path=ppt/theme/theme4.xml><?xml version="1.0" encoding="utf-8"?>
<a:theme xmlns:a="http://schemas.openxmlformats.org/drawingml/2006/main" name="End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4800" dirty="0" err="1" smtClean="0">
            <a:solidFill>
              <a:srgbClr val="000000"/>
            </a:solidFill>
            <a:latin typeface="Arial" panose="020B0604020202020204" pitchFamily="34" charset="0"/>
            <a:ea typeface="Microsoft YaHei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8" id="{10D78E51-8D5A-4682-A2B0-43C2A5B5BB4F}" vid="{19CE10E0-DEB1-4025-A926-EA35B177B1A8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5757</TotalTime>
  <Words>286</Words>
  <Application>Microsoft Office PowerPoint</Application>
  <PresentationFormat>Custom</PresentationFormat>
  <Paragraphs>47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.AppleSystemUIFont</vt:lpstr>
      <vt:lpstr>等线</vt:lpstr>
      <vt:lpstr>Microsoft YaHei</vt:lpstr>
      <vt:lpstr>黑体</vt:lpstr>
      <vt:lpstr>Arial</vt:lpstr>
      <vt:lpstr>Calibri</vt:lpstr>
      <vt:lpstr>Courier New</vt:lpstr>
      <vt:lpstr>Cover page_Image version</vt:lpstr>
      <vt:lpstr>Contents page</vt:lpstr>
      <vt:lpstr>Chapter page</vt:lpstr>
      <vt:lpstr>End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Gutierrez Asier</dc:creator>
  <cp:lastModifiedBy>Gutierrez Asier</cp:lastModifiedBy>
  <cp:revision>17</cp:revision>
  <dcterms:created xsi:type="dcterms:W3CDTF">2026-09-28T14:56:12Z</dcterms:created>
  <dcterms:modified xsi:type="dcterms:W3CDTF">2026-10-02T14:53:49Z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(3)ugBKOaJyAF+2ZR8jdmExaFyacnrLcOwJqVgt/eiAt7/9uRLjr3/83KfJXffCG1wvFVPSeP10
Dc9NNvHGUWrwtwKACI6q6nDY7NcezUIoD4FKlBcwq+4v0WlhdB9lj0DU9yPD/pgUXpzsro2u
qH2gSWTEwE78MEIg1nzvtxQ2ZrfVnJBql/WHhocm4WT+ALysekkM6h0D9v0dW90TDYeYAG8j
F4acTwDjPQB6Jvly/+</vt:lpwstr>
  </property>
  <property fmtid="{D5CDD505-2E9C-101B-9397-08002B2CF9AE}" pid="3" name="_2015_ms_pID_7253431">
    <vt:lpwstr>ziE1NCCJC2r3LDBHX5YS2y7Ei0yQjdt8IjSc6yaAzte6h9Vt2gm8GZ
IM9TVOOKsMVISWjPqTgRugMCEJJWz6zy8rzra4pEkJAAB9dSeb5WK2/Db6SCD4fOzPUpgWrB
TOuzAnrO4ie8dOvwiDydG3gULlJEXIFwJA5FjFT/amCZXakQtTLPQt9wmFCgTXIE+0BQ1Dnl
DNFUwz7BcD0XcrT4PaEJA2t/uvsWcaRAofjt</vt:lpwstr>
  </property>
  <property fmtid="{D5CDD505-2E9C-101B-9397-08002B2CF9AE}" pid="4" name="_2015_ms_pID_7253432">
    <vt:lpwstr>IQ==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1598576536</vt:lpwstr>
  </property>
</Properties>
</file>